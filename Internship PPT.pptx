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Overpass Light" panose="020B0604020202020204" charset="0"/>
      <p:regular r:id="rId13"/>
    </p:embeddedFont>
    <p:embeddedFont>
      <p:font typeface="Syne 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0454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F4BE"/>
          </a:solidFill>
          <a:ln/>
        </p:spPr>
      </p:sp>
      <p:sp>
        <p:nvSpPr>
          <p:cNvPr id="3" name="Shape 1"/>
          <p:cNvSpPr/>
          <p:nvPr/>
        </p:nvSpPr>
        <p:spPr>
          <a:xfrm>
            <a:off x="0" y="0"/>
            <a:ext cx="12191695" cy="6858000"/>
          </a:xfrm>
          <a:prstGeom prst="rect">
            <a:avLst/>
          </a:prstGeom>
          <a:solidFill>
            <a:srgbClr val="FFFDE6"/>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985466"/>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233939"/>
                </a:solidFill>
                <a:latin typeface="Syne Bold" pitchFamily="34" charset="0"/>
                <a:ea typeface="Syne Bold" pitchFamily="34" charset="-122"/>
                <a:cs typeface="Syne Bold" pitchFamily="34" charset="-120"/>
              </a:rPr>
              <a:t>Internship Report — Research &amp; Reporting</a:t>
            </a:r>
            <a:endParaRPr lang="en-US" sz="3700" dirty="0"/>
          </a:p>
        </p:txBody>
      </p:sp>
      <p:sp>
        <p:nvSpPr>
          <p:cNvPr id="4" name="Text 1"/>
          <p:cNvSpPr/>
          <p:nvPr/>
        </p:nvSpPr>
        <p:spPr>
          <a:xfrm>
            <a:off x="661475" y="3450233"/>
            <a:ext cx="6296860" cy="1422301"/>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3B4E4E"/>
                </a:solidFill>
                <a:latin typeface="Overpass Light" pitchFamily="34" charset="0"/>
                <a:ea typeface="Overpass Light" pitchFamily="34" charset="-122"/>
                <a:cs typeface="Overpass Light" pitchFamily="34" charset="-120"/>
              </a:rPr>
              <a:t>Social Development Internship at Vishalakshi Foundation | Sakshi Priya, 25SCS1003003492 B.Tech (CSE) Sem 3, IILM University, Greater Noida</a:t>
            </a:r>
            <a:endParaRPr lang="en-US" sz="1450" dirty="0"/>
          </a:p>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Duration: 04 June 2026 – 06 July 2026 • Submitted in partial fulfilment of the B.Tech internship requirement</a:t>
            </a:r>
            <a:endParaRPr lang="en-US" sz="1450" dirty="0"/>
          </a:p>
        </p:txBody>
      </p:sp>
      <p:pic>
        <p:nvPicPr>
          <p:cNvPr id="6" name="Picture 5">
            <a:extLst>
              <a:ext uri="{FF2B5EF4-FFF2-40B4-BE49-F238E27FC236}">
                <a16:creationId xmlns:a16="http://schemas.microsoft.com/office/drawing/2014/main" id="{3D80B109-8145-21EC-7485-D9EAD3D1A20B}"/>
              </a:ext>
            </a:extLst>
          </p:cNvPr>
          <p:cNvPicPr>
            <a:picLocks noChangeAspect="1"/>
          </p:cNvPicPr>
          <p:nvPr/>
        </p:nvPicPr>
        <p:blipFill>
          <a:blip r:embed="rId4"/>
          <a:stretch>
            <a:fillRect/>
          </a:stretch>
        </p:blipFill>
        <p:spPr>
          <a:xfrm>
            <a:off x="-1" y="0"/>
            <a:ext cx="2015477" cy="9412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084685"/>
            <a:ext cx="6296860" cy="590649"/>
          </a:xfrm>
          <a:prstGeom prst="rect">
            <a:avLst/>
          </a:prstGeom>
          <a:noFill/>
          <a:ln/>
        </p:spPr>
        <p:txBody>
          <a:bodyPr wrap="none" lIns="0" tIns="0" rIns="0" bIns="0" rtlCol="0" anchor="t"/>
          <a:lstStyle/>
          <a:p>
            <a:pPr marL="0" indent="0" algn="l">
              <a:lnSpc>
                <a:spcPct val="104000"/>
              </a:lnSpc>
              <a:buNone/>
            </a:pPr>
            <a:r>
              <a:rPr lang="en-US" sz="3700" b="1" dirty="0">
                <a:solidFill>
                  <a:srgbClr val="233939"/>
                </a:solidFill>
                <a:latin typeface="Syne Bold" pitchFamily="34" charset="0"/>
                <a:ea typeface="Syne Bold" pitchFamily="34" charset="-122"/>
                <a:cs typeface="Syne Bold" pitchFamily="34" charset="-120"/>
              </a:rPr>
              <a:t>Executive Summary</a:t>
            </a:r>
            <a:endParaRPr lang="en-US" sz="3700" dirty="0"/>
          </a:p>
        </p:txBody>
      </p:sp>
      <p:sp>
        <p:nvSpPr>
          <p:cNvPr id="4" name="Text 1"/>
          <p:cNvSpPr/>
          <p:nvPr/>
        </p:nvSpPr>
        <p:spPr>
          <a:xfrm>
            <a:off x="661475" y="2958802"/>
            <a:ext cx="6296860"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This report documents a four-week Social Development internship focused on research and reporting at Vishalakshi Foundation. Activities included information collection, source verification, structured drafting, and final report preparation. Key outcomes: organized research materials, improved professional writing and documentation practices, and a complete internship deliverable suitable for academic submission.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30982"/>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233939"/>
                </a:solidFill>
                <a:latin typeface="Syne Bold" pitchFamily="34" charset="0"/>
                <a:ea typeface="Syne Bold" pitchFamily="34" charset="-122"/>
                <a:cs typeface="Syne Bold" pitchFamily="34" charset="-120"/>
              </a:rPr>
              <a:t>Candidate's Declaration &amp; Acknowledgment</a:t>
            </a:r>
            <a:endParaRPr lang="en-US" sz="3700" dirty="0"/>
          </a:p>
        </p:txBody>
      </p:sp>
      <p:pic>
        <p:nvPicPr>
          <p:cNvPr id="3" name="Image 0" descr="preencoded.png"/>
          <p:cNvPicPr>
            <a:picLocks noChangeAspect="1"/>
          </p:cNvPicPr>
          <p:nvPr/>
        </p:nvPicPr>
        <p:blipFill>
          <a:blip r:embed="rId3"/>
          <a:stretch>
            <a:fillRect/>
          </a:stretch>
        </p:blipFill>
        <p:spPr>
          <a:xfrm>
            <a:off x="661475" y="2847380"/>
            <a:ext cx="4637269" cy="2627809"/>
          </a:xfrm>
          <a:prstGeom prst="rect">
            <a:avLst/>
          </a:prstGeom>
        </p:spPr>
      </p:pic>
      <p:sp>
        <p:nvSpPr>
          <p:cNvPr id="4" name="Text 1"/>
          <p:cNvSpPr/>
          <p:nvPr/>
        </p:nvSpPr>
        <p:spPr>
          <a:xfrm>
            <a:off x="5766251" y="2684760"/>
            <a:ext cx="5770220" cy="295275"/>
          </a:xfrm>
          <a:prstGeom prst="rect">
            <a:avLst/>
          </a:prstGeom>
          <a:noFill/>
          <a:ln/>
        </p:spPr>
        <p:txBody>
          <a:bodyPr wrap="none" lIns="0" tIns="0" rIns="0" bIns="0" rtlCol="0" anchor="t"/>
          <a:lstStyle/>
          <a:p>
            <a:pPr marL="0" indent="0" algn="l">
              <a:lnSpc>
                <a:spcPct val="104000"/>
              </a:lnSpc>
              <a:buNone/>
            </a:pPr>
            <a:r>
              <a:rPr lang="en-US" sz="1850" b="1" dirty="0">
                <a:solidFill>
                  <a:srgbClr val="233939"/>
                </a:solidFill>
                <a:latin typeface="Syne Bold" pitchFamily="34" charset="0"/>
                <a:ea typeface="Syne Bold" pitchFamily="34" charset="-122"/>
                <a:cs typeface="Syne Bold" pitchFamily="34" charset="-120"/>
              </a:rPr>
              <a:t>Declaration</a:t>
            </a:r>
            <a:endParaRPr lang="en-US" sz="1850" dirty="0"/>
          </a:p>
        </p:txBody>
      </p:sp>
      <p:sp>
        <p:nvSpPr>
          <p:cNvPr id="5" name="Text 2"/>
          <p:cNvSpPr/>
          <p:nvPr/>
        </p:nvSpPr>
        <p:spPr>
          <a:xfrm>
            <a:off x="5766251" y="3169047"/>
            <a:ext cx="577022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I, Sakshi Priya, declare that this report is an original record of my internship (04 Jun – 06 Jul 2026) as a Social Development Intern. All external sources are acknowledged in the bibliography.</a:t>
            </a:r>
            <a:endParaRPr lang="en-US" sz="1450" dirty="0"/>
          </a:p>
        </p:txBody>
      </p:sp>
      <p:sp>
        <p:nvSpPr>
          <p:cNvPr id="6" name="Text 3"/>
          <p:cNvSpPr/>
          <p:nvPr/>
        </p:nvSpPr>
        <p:spPr>
          <a:xfrm>
            <a:off x="5766251" y="4265315"/>
            <a:ext cx="5770220" cy="295275"/>
          </a:xfrm>
          <a:prstGeom prst="rect">
            <a:avLst/>
          </a:prstGeom>
          <a:noFill/>
          <a:ln/>
        </p:spPr>
        <p:txBody>
          <a:bodyPr wrap="none" lIns="0" tIns="0" rIns="0" bIns="0" rtlCol="0" anchor="t"/>
          <a:lstStyle/>
          <a:p>
            <a:pPr marL="0" indent="0" algn="l">
              <a:lnSpc>
                <a:spcPct val="104000"/>
              </a:lnSpc>
              <a:buNone/>
            </a:pPr>
            <a:r>
              <a:rPr lang="en-US" sz="1850" b="1" dirty="0">
                <a:solidFill>
                  <a:srgbClr val="233939"/>
                </a:solidFill>
                <a:latin typeface="Syne Bold" pitchFamily="34" charset="0"/>
                <a:ea typeface="Syne Bold" pitchFamily="34" charset="-122"/>
                <a:cs typeface="Syne Bold" pitchFamily="34" charset="-120"/>
              </a:rPr>
              <a:t>Acknowledgment</a:t>
            </a:r>
            <a:endParaRPr lang="en-US" sz="1850" dirty="0"/>
          </a:p>
        </p:txBody>
      </p:sp>
      <p:sp>
        <p:nvSpPr>
          <p:cNvPr id="7" name="Text 4"/>
          <p:cNvSpPr/>
          <p:nvPr/>
        </p:nvSpPr>
        <p:spPr>
          <a:xfrm>
            <a:off x="5766251" y="4749602"/>
            <a:ext cx="577022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Grateful to Vishalakshi Foundation mentors and university faculty for guidance and feedback that shaped my research, documentation, and professional habits.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235895"/>
            <a:ext cx="6296860" cy="590649"/>
          </a:xfrm>
          <a:prstGeom prst="rect">
            <a:avLst/>
          </a:prstGeom>
          <a:noFill/>
          <a:ln/>
        </p:spPr>
        <p:txBody>
          <a:bodyPr wrap="none" lIns="0" tIns="0" rIns="0" bIns="0" rtlCol="0" anchor="t"/>
          <a:lstStyle/>
          <a:p>
            <a:pPr marL="0" indent="0" algn="l">
              <a:lnSpc>
                <a:spcPct val="104000"/>
              </a:lnSpc>
              <a:buNone/>
            </a:pPr>
            <a:r>
              <a:rPr lang="en-US" sz="3700" b="1" dirty="0">
                <a:solidFill>
                  <a:srgbClr val="233939"/>
                </a:solidFill>
                <a:latin typeface="Syne Bold" pitchFamily="34" charset="0"/>
                <a:ea typeface="Syne Bold" pitchFamily="34" charset="-122"/>
                <a:cs typeface="Syne Bold" pitchFamily="34" charset="-120"/>
              </a:rPr>
              <a:t>Organization Profile</a:t>
            </a:r>
            <a:endParaRPr lang="en-US" sz="3700" dirty="0"/>
          </a:p>
        </p:txBody>
      </p:sp>
      <p:sp>
        <p:nvSpPr>
          <p:cNvPr id="4" name="Text 1"/>
          <p:cNvSpPr/>
          <p:nvPr/>
        </p:nvSpPr>
        <p:spPr>
          <a:xfrm>
            <a:off x="661475" y="3110012"/>
            <a:ext cx="6296860"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Vishalakshi Foundation is a social-development organisation that relies on evidence-based research and clear reporting to plan and communicate programmes. The internship exposed the intern to organizational workflows, responsible handling of community information, and the role of documentation in program design and review.</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582837"/>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233939"/>
                </a:solidFill>
                <a:latin typeface="Syne Bold" pitchFamily="34" charset="0"/>
                <a:ea typeface="Syne Bold" pitchFamily="34" charset="-122"/>
                <a:cs typeface="Syne Bold" pitchFamily="34" charset="-120"/>
              </a:rPr>
              <a:t>Problem Statement &amp; Project Objectives</a:t>
            </a:r>
            <a:endParaRPr lang="en-US" sz="3700" dirty="0"/>
          </a:p>
        </p:txBody>
      </p:sp>
      <p:sp>
        <p:nvSpPr>
          <p:cNvPr id="3" name="Text 1"/>
          <p:cNvSpPr/>
          <p:nvPr/>
        </p:nvSpPr>
        <p:spPr>
          <a:xfrm>
            <a:off x="661475" y="2645966"/>
            <a:ext cx="5203794" cy="295275"/>
          </a:xfrm>
          <a:prstGeom prst="rect">
            <a:avLst/>
          </a:prstGeom>
          <a:noFill/>
          <a:ln/>
        </p:spPr>
        <p:txBody>
          <a:bodyPr wrap="none" lIns="0" tIns="0" rIns="0" bIns="0" rtlCol="0" anchor="t"/>
          <a:lstStyle/>
          <a:p>
            <a:pPr marL="0" indent="0" algn="l">
              <a:lnSpc>
                <a:spcPct val="104000"/>
              </a:lnSpc>
              <a:buNone/>
            </a:pPr>
            <a:r>
              <a:rPr lang="en-US" sz="1850" b="1" dirty="0">
                <a:solidFill>
                  <a:srgbClr val="233939"/>
                </a:solidFill>
                <a:latin typeface="Syne Bold" pitchFamily="34" charset="0"/>
                <a:ea typeface="Syne Bold" pitchFamily="34" charset="-122"/>
                <a:cs typeface="Syne Bold" pitchFamily="34" charset="-120"/>
              </a:rPr>
              <a:t>Problem Statement</a:t>
            </a:r>
            <a:endParaRPr lang="en-US" sz="1850" dirty="0"/>
          </a:p>
        </p:txBody>
      </p:sp>
      <p:sp>
        <p:nvSpPr>
          <p:cNvPr id="4" name="Text 2"/>
          <p:cNvSpPr/>
          <p:nvPr/>
        </p:nvSpPr>
        <p:spPr>
          <a:xfrm>
            <a:off x="661475" y="3130252"/>
            <a:ext cx="5203794"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Unstructured information from varied sources impedes retrieval, consistent communication, and organisational learning. The internship addressed the need for a systematic research-and-reporting workflow: selection, verification, consolidation, and clear presentation of social-development information.</a:t>
            </a:r>
            <a:endParaRPr lang="en-US" sz="1450" dirty="0"/>
          </a:p>
        </p:txBody>
      </p:sp>
      <p:sp>
        <p:nvSpPr>
          <p:cNvPr id="5" name="Text 3"/>
          <p:cNvSpPr/>
          <p:nvPr/>
        </p:nvSpPr>
        <p:spPr>
          <a:xfrm>
            <a:off x="6332776" y="2645966"/>
            <a:ext cx="5203794" cy="295275"/>
          </a:xfrm>
          <a:prstGeom prst="rect">
            <a:avLst/>
          </a:prstGeom>
          <a:noFill/>
          <a:ln/>
        </p:spPr>
        <p:txBody>
          <a:bodyPr wrap="none" lIns="0" tIns="0" rIns="0" bIns="0" rtlCol="0" anchor="t"/>
          <a:lstStyle/>
          <a:p>
            <a:pPr marL="0" indent="0" algn="l">
              <a:lnSpc>
                <a:spcPct val="104000"/>
              </a:lnSpc>
              <a:buNone/>
            </a:pPr>
            <a:r>
              <a:rPr lang="en-US" sz="1850" b="1" dirty="0">
                <a:solidFill>
                  <a:srgbClr val="233939"/>
                </a:solidFill>
                <a:latin typeface="Syne Bold" pitchFamily="34" charset="0"/>
                <a:ea typeface="Syne Bold" pitchFamily="34" charset="-122"/>
                <a:cs typeface="Syne Bold" pitchFamily="34" charset="-120"/>
              </a:rPr>
              <a:t>Project Objectives</a:t>
            </a:r>
            <a:endParaRPr lang="en-US" sz="1850" dirty="0"/>
          </a:p>
        </p:txBody>
      </p:sp>
      <p:sp>
        <p:nvSpPr>
          <p:cNvPr id="6" name="Text 4"/>
          <p:cNvSpPr/>
          <p:nvPr/>
        </p:nvSpPr>
        <p:spPr>
          <a:xfrm>
            <a:off x="6332776" y="3130252"/>
            <a:ext cx="5203794" cy="2078831"/>
          </a:xfrm>
          <a:prstGeom prst="rect">
            <a:avLst/>
          </a:prstGeom>
          <a:noFill/>
          <a:ln/>
        </p:spPr>
        <p:txBody>
          <a:bodyPr wrap="square" lIns="0" tIns="75608" rIns="0" bIns="0" rtlCol="0" anchor="t">
            <a:normAutofit/>
          </a:bodyPr>
          <a:lstStyle/>
          <a:p>
            <a:pPr marL="294640" indent="-294640" algn="l">
              <a:lnSpc>
                <a:spcPct val="1330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Understand research and documentation needs of the organisation</a:t>
            </a:r>
            <a:endParaRPr lang="en-US" sz="1450" dirty="0"/>
          </a:p>
          <a:p>
            <a:pPr marL="294640" indent="-294640" algn="l">
              <a:lnSpc>
                <a:spcPct val="1330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Collect and screen primary and secondary sources</a:t>
            </a:r>
            <a:endParaRPr lang="en-US" sz="1450" dirty="0"/>
          </a:p>
          <a:p>
            <a:pPr marL="294640" indent="-294640" algn="l">
              <a:lnSpc>
                <a:spcPct val="1330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Organize material into clear sections for reporting</a:t>
            </a:r>
            <a:endParaRPr lang="en-US" sz="1450" dirty="0"/>
          </a:p>
          <a:p>
            <a:pPr marL="294640" indent="-294640" algn="l">
              <a:lnSpc>
                <a:spcPct val="1330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Draft concise, professionally formatted reports</a:t>
            </a:r>
            <a:endParaRPr lang="en-US" sz="1450" dirty="0"/>
          </a:p>
          <a:p>
            <a:pPr marL="294640" indent="-294640" algn="l">
              <a:lnSpc>
                <a:spcPct val="133000"/>
              </a:lnSpc>
              <a:buSzPct val="100000"/>
              <a:buChar char="•"/>
            </a:pPr>
            <a:r>
              <a:rPr lang="en-US" sz="1450" dirty="0">
                <a:solidFill>
                  <a:srgbClr val="3B4E4E"/>
                </a:solidFill>
                <a:latin typeface="Overpass Light" pitchFamily="34" charset="0"/>
                <a:ea typeface="Overpass Light" pitchFamily="34" charset="-122"/>
                <a:cs typeface="Overpass Light" pitchFamily="34" charset="-120"/>
              </a:rPr>
              <a:t>Improve editing, proofreading, and presentation skills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43520"/>
            <a:ext cx="6296860" cy="1122363"/>
          </a:xfrm>
          <a:prstGeom prst="rect">
            <a:avLst/>
          </a:prstGeom>
          <a:noFill/>
          <a:ln/>
        </p:spPr>
        <p:txBody>
          <a:bodyPr wrap="square" lIns="0" tIns="0" rIns="0" bIns="0" rtlCol="0" anchor="t">
            <a:normAutofit/>
          </a:bodyPr>
          <a:lstStyle/>
          <a:p>
            <a:pPr marL="0" indent="0" algn="l">
              <a:lnSpc>
                <a:spcPct val="104000"/>
              </a:lnSpc>
              <a:buNone/>
            </a:pPr>
            <a:r>
              <a:rPr lang="en-US" sz="3500" b="1" dirty="0">
                <a:solidFill>
                  <a:srgbClr val="233939"/>
                </a:solidFill>
                <a:latin typeface="Syne Bold" pitchFamily="34" charset="0"/>
                <a:ea typeface="Syne Bold" pitchFamily="34" charset="-122"/>
                <a:cs typeface="Syne Bold" pitchFamily="34" charset="-120"/>
              </a:rPr>
              <a:t>Scope, Tools &amp; Process Architecture</a:t>
            </a:r>
            <a:endParaRPr lang="en-US" sz="3500" dirty="0"/>
          </a:p>
        </p:txBody>
      </p:sp>
      <p:sp>
        <p:nvSpPr>
          <p:cNvPr id="4" name="Text 1"/>
          <p:cNvSpPr/>
          <p:nvPr/>
        </p:nvSpPr>
        <p:spPr>
          <a:xfrm>
            <a:off x="661475" y="1921768"/>
            <a:ext cx="6296860"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3B4E4E"/>
                </a:solidFill>
                <a:latin typeface="Overpass Light" pitchFamily="34" charset="0"/>
                <a:ea typeface="Overpass Light" pitchFamily="34" charset="-122"/>
                <a:cs typeface="Overpass Light" pitchFamily="34" charset="-120"/>
              </a:rPr>
              <a:t>The project focused on documentation-oriented tasks: research support, information collection, organization, analysis, drafting, editing, and final reporting. Primary tools included web search, Google Docs / MS Word, Google Sheets / Excel, email, PDF utilities, and presentation tools.</a:t>
            </a:r>
            <a:endParaRPr lang="en-US" sz="1400" dirty="0"/>
          </a:p>
        </p:txBody>
      </p:sp>
      <p:sp>
        <p:nvSpPr>
          <p:cNvPr id="5" name="Shape 2"/>
          <p:cNvSpPr/>
          <p:nvPr/>
        </p:nvSpPr>
        <p:spPr>
          <a:xfrm>
            <a:off x="661475" y="3234035"/>
            <a:ext cx="3063104" cy="1314648"/>
          </a:xfrm>
          <a:prstGeom prst="roundRect">
            <a:avLst>
              <a:gd name="adj" fmla="val 5737"/>
            </a:avLst>
          </a:prstGeom>
          <a:solidFill>
            <a:srgbClr val="DDEEE6"/>
          </a:solidFill>
          <a:ln w="6350">
            <a:solidFill>
              <a:srgbClr val="C3D4CC"/>
            </a:solidFill>
            <a:prstDash val="solid"/>
          </a:ln>
        </p:spPr>
      </p:sp>
      <p:sp>
        <p:nvSpPr>
          <p:cNvPr id="6" name="Text 3"/>
          <p:cNvSpPr/>
          <p:nvPr/>
        </p:nvSpPr>
        <p:spPr>
          <a:xfrm>
            <a:off x="847307" y="3419872"/>
            <a:ext cx="2691440" cy="280491"/>
          </a:xfrm>
          <a:prstGeom prst="rect">
            <a:avLst/>
          </a:prstGeom>
          <a:noFill/>
          <a:ln/>
        </p:spPr>
        <p:txBody>
          <a:bodyPr wrap="none" lIns="0" tIns="0" rIns="0" bIns="0" rtlCol="0" anchor="t"/>
          <a:lstStyle/>
          <a:p>
            <a:pPr marL="0" indent="0" algn="l">
              <a:lnSpc>
                <a:spcPct val="104000"/>
              </a:lnSpc>
              <a:buNone/>
            </a:pPr>
            <a:r>
              <a:rPr lang="en-US" sz="1750" b="1" dirty="0">
                <a:solidFill>
                  <a:srgbClr val="3B4E4E"/>
                </a:solidFill>
                <a:latin typeface="Syne Bold" pitchFamily="34" charset="0"/>
                <a:ea typeface="Syne Bold" pitchFamily="34" charset="-122"/>
                <a:cs typeface="Syne Bold" pitchFamily="34" charset="-120"/>
              </a:rPr>
              <a:t>Task Intake</a:t>
            </a:r>
            <a:endParaRPr lang="en-US" sz="1750" dirty="0"/>
          </a:p>
        </p:txBody>
      </p:sp>
      <p:sp>
        <p:nvSpPr>
          <p:cNvPr id="7" name="Text 4"/>
          <p:cNvSpPr/>
          <p:nvPr/>
        </p:nvSpPr>
        <p:spPr>
          <a:xfrm>
            <a:off x="847307" y="3802658"/>
            <a:ext cx="2691440"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3B4E4E"/>
                </a:solidFill>
                <a:latin typeface="Overpass Light" pitchFamily="34" charset="0"/>
                <a:ea typeface="Overpass Light" pitchFamily="34" charset="-122"/>
                <a:cs typeface="Overpass Light" pitchFamily="34" charset="-120"/>
              </a:rPr>
              <a:t>Understand assignment, scope, and deadlines</a:t>
            </a:r>
            <a:endParaRPr lang="en-US" sz="1400" dirty="0"/>
          </a:p>
        </p:txBody>
      </p:sp>
      <p:sp>
        <p:nvSpPr>
          <p:cNvPr id="8" name="Shape 5"/>
          <p:cNvSpPr/>
          <p:nvPr/>
        </p:nvSpPr>
        <p:spPr>
          <a:xfrm>
            <a:off x="3895131" y="3234035"/>
            <a:ext cx="3063203" cy="1314648"/>
          </a:xfrm>
          <a:prstGeom prst="roundRect">
            <a:avLst>
              <a:gd name="adj" fmla="val 5737"/>
            </a:avLst>
          </a:prstGeom>
          <a:solidFill>
            <a:srgbClr val="DDEEE6"/>
          </a:solidFill>
          <a:ln w="6350">
            <a:solidFill>
              <a:srgbClr val="C3D4CC"/>
            </a:solidFill>
            <a:prstDash val="solid"/>
          </a:ln>
        </p:spPr>
      </p:sp>
      <p:sp>
        <p:nvSpPr>
          <p:cNvPr id="9" name="Text 6"/>
          <p:cNvSpPr/>
          <p:nvPr/>
        </p:nvSpPr>
        <p:spPr>
          <a:xfrm>
            <a:off x="4080964" y="3419872"/>
            <a:ext cx="2691539" cy="280491"/>
          </a:xfrm>
          <a:prstGeom prst="rect">
            <a:avLst/>
          </a:prstGeom>
          <a:noFill/>
          <a:ln/>
        </p:spPr>
        <p:txBody>
          <a:bodyPr wrap="none" lIns="0" tIns="0" rIns="0" bIns="0" rtlCol="0" anchor="t"/>
          <a:lstStyle/>
          <a:p>
            <a:pPr marL="0" indent="0" algn="l">
              <a:lnSpc>
                <a:spcPct val="104000"/>
              </a:lnSpc>
              <a:buNone/>
            </a:pPr>
            <a:r>
              <a:rPr lang="en-US" sz="1750" b="1" dirty="0">
                <a:solidFill>
                  <a:srgbClr val="3B4E4E"/>
                </a:solidFill>
                <a:latin typeface="Syne Bold" pitchFamily="34" charset="0"/>
                <a:ea typeface="Syne Bold" pitchFamily="34" charset="-122"/>
                <a:cs typeface="Syne Bold" pitchFamily="34" charset="-120"/>
              </a:rPr>
              <a:t>Source Identification</a:t>
            </a:r>
            <a:endParaRPr lang="en-US" sz="1750" dirty="0"/>
          </a:p>
        </p:txBody>
      </p:sp>
      <p:sp>
        <p:nvSpPr>
          <p:cNvPr id="10" name="Text 7"/>
          <p:cNvSpPr/>
          <p:nvPr/>
        </p:nvSpPr>
        <p:spPr>
          <a:xfrm>
            <a:off x="4080964" y="3802658"/>
            <a:ext cx="2691539"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3B4E4E"/>
                </a:solidFill>
                <a:latin typeface="Overpass Light" pitchFamily="34" charset="0"/>
                <a:ea typeface="Overpass Light" pitchFamily="34" charset="-122"/>
                <a:cs typeface="Overpass Light" pitchFamily="34" charset="-120"/>
              </a:rPr>
              <a:t>Locate organizational documents and reliable external references</a:t>
            </a:r>
            <a:endParaRPr lang="en-US" sz="1400" dirty="0"/>
          </a:p>
        </p:txBody>
      </p:sp>
      <p:sp>
        <p:nvSpPr>
          <p:cNvPr id="11" name="Shape 8"/>
          <p:cNvSpPr/>
          <p:nvPr/>
        </p:nvSpPr>
        <p:spPr>
          <a:xfrm>
            <a:off x="661475" y="4719241"/>
            <a:ext cx="3063104" cy="1595140"/>
          </a:xfrm>
          <a:prstGeom prst="roundRect">
            <a:avLst>
              <a:gd name="adj" fmla="val 4728"/>
            </a:avLst>
          </a:prstGeom>
          <a:solidFill>
            <a:srgbClr val="DDEEE6"/>
          </a:solidFill>
          <a:ln w="6350">
            <a:solidFill>
              <a:srgbClr val="C3D4CC"/>
            </a:solidFill>
            <a:prstDash val="solid"/>
          </a:ln>
        </p:spPr>
      </p:sp>
      <p:sp>
        <p:nvSpPr>
          <p:cNvPr id="12" name="Text 9"/>
          <p:cNvSpPr/>
          <p:nvPr/>
        </p:nvSpPr>
        <p:spPr>
          <a:xfrm>
            <a:off x="847307" y="4905077"/>
            <a:ext cx="2691440" cy="560983"/>
          </a:xfrm>
          <a:prstGeom prst="rect">
            <a:avLst/>
          </a:prstGeom>
          <a:noFill/>
          <a:ln/>
        </p:spPr>
        <p:txBody>
          <a:bodyPr wrap="square" lIns="0" tIns="0" rIns="0" bIns="0" rtlCol="0" anchor="t">
            <a:normAutofit/>
          </a:bodyPr>
          <a:lstStyle/>
          <a:p>
            <a:pPr marL="0" indent="0" algn="l">
              <a:lnSpc>
                <a:spcPct val="104000"/>
              </a:lnSpc>
              <a:buNone/>
            </a:pPr>
            <a:r>
              <a:rPr lang="en-US" sz="1750" b="1" dirty="0">
                <a:solidFill>
                  <a:srgbClr val="3B4E4E"/>
                </a:solidFill>
                <a:latin typeface="Syne Bold" pitchFamily="34" charset="0"/>
                <a:ea typeface="Syne Bold" pitchFamily="34" charset="-122"/>
                <a:cs typeface="Syne Bold" pitchFamily="34" charset="-120"/>
              </a:rPr>
              <a:t>Screening &amp; Verification</a:t>
            </a:r>
            <a:endParaRPr lang="en-US" sz="1750" dirty="0"/>
          </a:p>
        </p:txBody>
      </p:sp>
      <p:sp>
        <p:nvSpPr>
          <p:cNvPr id="13" name="Text 10"/>
          <p:cNvSpPr/>
          <p:nvPr/>
        </p:nvSpPr>
        <p:spPr>
          <a:xfrm>
            <a:off x="847307" y="5568355"/>
            <a:ext cx="2691440"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3B4E4E"/>
                </a:solidFill>
                <a:latin typeface="Overpass Light" pitchFamily="34" charset="0"/>
                <a:ea typeface="Overpass Light" pitchFamily="34" charset="-122"/>
                <a:cs typeface="Overpass Light" pitchFamily="34" charset="-120"/>
              </a:rPr>
              <a:t>Remove duplicates, check reliability</a:t>
            </a:r>
            <a:endParaRPr lang="en-US" sz="1400" dirty="0"/>
          </a:p>
        </p:txBody>
      </p:sp>
      <p:sp>
        <p:nvSpPr>
          <p:cNvPr id="14" name="Shape 11"/>
          <p:cNvSpPr/>
          <p:nvPr/>
        </p:nvSpPr>
        <p:spPr>
          <a:xfrm>
            <a:off x="3895131" y="4719241"/>
            <a:ext cx="3063203" cy="1595140"/>
          </a:xfrm>
          <a:prstGeom prst="roundRect">
            <a:avLst>
              <a:gd name="adj" fmla="val 4728"/>
            </a:avLst>
          </a:prstGeom>
          <a:solidFill>
            <a:srgbClr val="DDEEE6"/>
          </a:solidFill>
          <a:ln w="6350">
            <a:solidFill>
              <a:srgbClr val="C3D4CC"/>
            </a:solidFill>
            <a:prstDash val="solid"/>
          </a:ln>
        </p:spPr>
      </p:sp>
      <p:sp>
        <p:nvSpPr>
          <p:cNvPr id="15" name="Text 12"/>
          <p:cNvSpPr/>
          <p:nvPr/>
        </p:nvSpPr>
        <p:spPr>
          <a:xfrm>
            <a:off x="4080964" y="4905077"/>
            <a:ext cx="2691539" cy="280491"/>
          </a:xfrm>
          <a:prstGeom prst="rect">
            <a:avLst/>
          </a:prstGeom>
          <a:noFill/>
          <a:ln/>
        </p:spPr>
        <p:txBody>
          <a:bodyPr wrap="none" lIns="0" tIns="0" rIns="0" bIns="0" rtlCol="0" anchor="t"/>
          <a:lstStyle/>
          <a:p>
            <a:pPr marL="0" indent="0" algn="l">
              <a:lnSpc>
                <a:spcPct val="104000"/>
              </a:lnSpc>
              <a:buNone/>
            </a:pPr>
            <a:r>
              <a:rPr lang="en-US" sz="1750" b="1" dirty="0">
                <a:solidFill>
                  <a:srgbClr val="3B4E4E"/>
                </a:solidFill>
                <a:latin typeface="Syne Bold" pitchFamily="34" charset="0"/>
                <a:ea typeface="Syne Bold" pitchFamily="34" charset="-122"/>
                <a:cs typeface="Syne Bold" pitchFamily="34" charset="-120"/>
              </a:rPr>
              <a:t>Drafting &amp; Review</a:t>
            </a:r>
            <a:endParaRPr lang="en-US" sz="1750" dirty="0"/>
          </a:p>
        </p:txBody>
      </p:sp>
      <p:sp>
        <p:nvSpPr>
          <p:cNvPr id="16" name="Text 13"/>
          <p:cNvSpPr/>
          <p:nvPr/>
        </p:nvSpPr>
        <p:spPr>
          <a:xfrm>
            <a:off x="4080964" y="5287863"/>
            <a:ext cx="2691539" cy="280095"/>
          </a:xfrm>
          <a:prstGeom prst="rect">
            <a:avLst/>
          </a:prstGeom>
          <a:noFill/>
          <a:ln/>
        </p:spPr>
        <p:txBody>
          <a:bodyPr wrap="none" lIns="0" tIns="0" rIns="0" bIns="0" rtlCol="0" anchor="t"/>
          <a:lstStyle/>
          <a:p>
            <a:pPr marL="0" indent="0" algn="l">
              <a:lnSpc>
                <a:spcPct val="130000"/>
              </a:lnSpc>
              <a:buNone/>
            </a:pPr>
            <a:r>
              <a:rPr lang="en-US" sz="1400" dirty="0">
                <a:solidFill>
                  <a:srgbClr val="3B4E4E"/>
                </a:solidFill>
                <a:latin typeface="Overpass Light" pitchFamily="34" charset="0"/>
                <a:ea typeface="Overpass Light" pitchFamily="34" charset="-122"/>
                <a:cs typeface="Overpass Light" pitchFamily="34" charset="-120"/>
              </a:rPr>
              <a:t>Structure, edit, and finalise report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61975"/>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233939"/>
                </a:solidFill>
                <a:latin typeface="Syne Bold" pitchFamily="34" charset="0"/>
                <a:ea typeface="Syne Bold" pitchFamily="34" charset="-122"/>
                <a:cs typeface="Syne Bold" pitchFamily="34" charset="-120"/>
              </a:rPr>
              <a:t>Methodology — Stepwise Approach</a:t>
            </a:r>
            <a:endParaRPr lang="en-US" sz="3700" dirty="0"/>
          </a:p>
        </p:txBody>
      </p:sp>
      <p:pic>
        <p:nvPicPr>
          <p:cNvPr id="3" name="Image 0" descr="preencoded.png"/>
          <p:cNvPicPr>
            <a:picLocks noChangeAspect="1"/>
          </p:cNvPicPr>
          <p:nvPr/>
        </p:nvPicPr>
        <p:blipFill>
          <a:blip r:embed="rId3"/>
          <a:stretch>
            <a:fillRect/>
          </a:stretch>
        </p:blipFill>
        <p:spPr>
          <a:xfrm>
            <a:off x="835500" y="1530648"/>
            <a:ext cx="10520595" cy="3947914"/>
          </a:xfrm>
          <a:prstGeom prst="rect">
            <a:avLst/>
          </a:prstGeom>
        </p:spPr>
      </p:pic>
      <p:sp>
        <p:nvSpPr>
          <p:cNvPr id="4" name="Text 1"/>
          <p:cNvSpPr/>
          <p:nvPr/>
        </p:nvSpPr>
        <p:spPr>
          <a:xfrm>
            <a:off x="9336045" y="4520169"/>
            <a:ext cx="1586822" cy="305688"/>
          </a:xfrm>
          <a:prstGeom prst="rect">
            <a:avLst/>
          </a:prstGeom>
          <a:noFill/>
          <a:ln/>
        </p:spPr>
        <p:txBody>
          <a:bodyPr wrap="none" lIns="0" tIns="0" rIns="0" bIns="0" rtlCol="0" anchor="t"/>
          <a:lstStyle/>
          <a:p>
            <a:pPr marL="0" indent="0" algn="ctr">
              <a:lnSpc>
                <a:spcPct val="104000"/>
              </a:lnSpc>
              <a:buNone/>
            </a:pPr>
            <a:r>
              <a:rPr lang="en-US" sz="1900" b="1" dirty="0">
                <a:solidFill>
                  <a:srgbClr val="3B4E4E"/>
                </a:solidFill>
                <a:latin typeface="Syne Bold" pitchFamily="34" charset="0"/>
                <a:ea typeface="Syne Bold" pitchFamily="34" charset="-122"/>
                <a:cs typeface="Syne Bold" pitchFamily="34" charset="-120"/>
              </a:rPr>
              <a:t>Organize</a:t>
            </a:r>
            <a:endParaRPr lang="en-US" sz="1900" dirty="0"/>
          </a:p>
        </p:txBody>
      </p:sp>
      <p:sp>
        <p:nvSpPr>
          <p:cNvPr id="5" name="Text 2"/>
          <p:cNvSpPr/>
          <p:nvPr/>
        </p:nvSpPr>
        <p:spPr>
          <a:xfrm>
            <a:off x="7336215" y="4520169"/>
            <a:ext cx="1586822" cy="305688"/>
          </a:xfrm>
          <a:prstGeom prst="rect">
            <a:avLst/>
          </a:prstGeom>
          <a:noFill/>
          <a:ln/>
        </p:spPr>
        <p:txBody>
          <a:bodyPr wrap="none" lIns="0" tIns="0" rIns="0" bIns="0" rtlCol="0" anchor="t"/>
          <a:lstStyle/>
          <a:p>
            <a:pPr marL="0" indent="0" algn="ctr">
              <a:lnSpc>
                <a:spcPct val="104000"/>
              </a:lnSpc>
              <a:buNone/>
            </a:pPr>
            <a:r>
              <a:rPr lang="en-US" sz="1900" b="1" dirty="0">
                <a:solidFill>
                  <a:srgbClr val="3B4E4E"/>
                </a:solidFill>
                <a:latin typeface="Syne Bold" pitchFamily="34" charset="0"/>
                <a:ea typeface="Syne Bold" pitchFamily="34" charset="-122"/>
                <a:cs typeface="Syne Bold" pitchFamily="34" charset="-120"/>
              </a:rPr>
              <a:t>Verify</a:t>
            </a:r>
            <a:endParaRPr lang="en-US" sz="1900" dirty="0"/>
          </a:p>
        </p:txBody>
      </p:sp>
      <p:sp>
        <p:nvSpPr>
          <p:cNvPr id="6" name="Text 3"/>
          <p:cNvSpPr/>
          <p:nvPr/>
        </p:nvSpPr>
        <p:spPr>
          <a:xfrm>
            <a:off x="5347253" y="4520169"/>
            <a:ext cx="1586822" cy="305688"/>
          </a:xfrm>
          <a:prstGeom prst="rect">
            <a:avLst/>
          </a:prstGeom>
          <a:noFill/>
          <a:ln/>
        </p:spPr>
        <p:txBody>
          <a:bodyPr wrap="none" lIns="0" tIns="0" rIns="0" bIns="0" rtlCol="0" anchor="t"/>
          <a:lstStyle/>
          <a:p>
            <a:pPr marL="0" indent="0" algn="ctr">
              <a:lnSpc>
                <a:spcPct val="104000"/>
              </a:lnSpc>
              <a:buNone/>
            </a:pPr>
            <a:r>
              <a:rPr lang="en-US" sz="1900" b="1" dirty="0">
                <a:solidFill>
                  <a:srgbClr val="3B4E4E"/>
                </a:solidFill>
                <a:latin typeface="Syne Bold" pitchFamily="34" charset="0"/>
                <a:ea typeface="Syne Bold" pitchFamily="34" charset="-122"/>
                <a:cs typeface="Syne Bold" pitchFamily="34" charset="-120"/>
              </a:rPr>
              <a:t>Collect</a:t>
            </a:r>
            <a:endParaRPr lang="en-US" sz="1900" dirty="0"/>
          </a:p>
        </p:txBody>
      </p:sp>
      <p:sp>
        <p:nvSpPr>
          <p:cNvPr id="7" name="Text 4"/>
          <p:cNvSpPr/>
          <p:nvPr/>
        </p:nvSpPr>
        <p:spPr>
          <a:xfrm>
            <a:off x="3358291" y="4520169"/>
            <a:ext cx="1586822" cy="305688"/>
          </a:xfrm>
          <a:prstGeom prst="rect">
            <a:avLst/>
          </a:prstGeom>
          <a:noFill/>
          <a:ln/>
        </p:spPr>
        <p:txBody>
          <a:bodyPr wrap="none" lIns="0" tIns="0" rIns="0" bIns="0" rtlCol="0" anchor="t"/>
          <a:lstStyle/>
          <a:p>
            <a:pPr marL="0" indent="0" algn="ctr">
              <a:lnSpc>
                <a:spcPct val="104000"/>
              </a:lnSpc>
              <a:buNone/>
            </a:pPr>
            <a:r>
              <a:rPr lang="en-US" sz="1900" b="1" dirty="0">
                <a:solidFill>
                  <a:srgbClr val="3B4E4E"/>
                </a:solidFill>
                <a:latin typeface="Syne Bold" pitchFamily="34" charset="0"/>
                <a:ea typeface="Syne Bold" pitchFamily="34" charset="-122"/>
                <a:cs typeface="Syne Bold" pitchFamily="34" charset="-120"/>
              </a:rPr>
              <a:t>Plan</a:t>
            </a:r>
            <a:endParaRPr lang="en-US" sz="1900" dirty="0"/>
          </a:p>
        </p:txBody>
      </p:sp>
      <p:sp>
        <p:nvSpPr>
          <p:cNvPr id="8" name="Text 5"/>
          <p:cNvSpPr/>
          <p:nvPr/>
        </p:nvSpPr>
        <p:spPr>
          <a:xfrm>
            <a:off x="1325854" y="4367325"/>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b="1" dirty="0">
                <a:solidFill>
                  <a:srgbClr val="3B4E4E"/>
                </a:solidFill>
                <a:latin typeface="Syne Bold" pitchFamily="34" charset="0"/>
                <a:ea typeface="Syne Bold" pitchFamily="34" charset="-122"/>
                <a:cs typeface="Syne Bold" pitchFamily="34" charset="-120"/>
              </a:rPr>
              <a:t>Understand</a:t>
            </a:r>
            <a:endParaRPr lang="en-US" sz="1900" dirty="0"/>
          </a:p>
        </p:txBody>
      </p:sp>
      <p:sp>
        <p:nvSpPr>
          <p:cNvPr id="9" name="Text 6"/>
          <p:cNvSpPr/>
          <p:nvPr/>
        </p:nvSpPr>
        <p:spPr>
          <a:xfrm>
            <a:off x="661475" y="5691188"/>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Each step emphasized relevance, accuracy, source-tracing, clarity, and ethical handling of sensitive information. Iterative review and feedback were integral to improving quality.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01067"/>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233939"/>
                </a:solidFill>
                <a:latin typeface="Syne Bold" pitchFamily="34" charset="0"/>
                <a:ea typeface="Syne Bold" pitchFamily="34" charset="-122"/>
                <a:cs typeface="Syne Bold" pitchFamily="34" charset="-120"/>
              </a:rPr>
              <a:t>Work Performed &amp; Skills Developed</a:t>
            </a:r>
            <a:endParaRPr lang="en-US" sz="3700" dirty="0"/>
          </a:p>
        </p:txBody>
      </p:sp>
      <p:pic>
        <p:nvPicPr>
          <p:cNvPr id="3" name="Image 0" descr="preencoded.png"/>
          <p:cNvPicPr>
            <a:picLocks noChangeAspect="1"/>
          </p:cNvPicPr>
          <p:nvPr/>
        </p:nvPicPr>
        <p:blipFill>
          <a:blip r:embed="rId3"/>
          <a:stretch>
            <a:fillRect/>
          </a:stretch>
        </p:blipFill>
        <p:spPr>
          <a:xfrm>
            <a:off x="661475" y="2712641"/>
            <a:ext cx="4070744" cy="2306737"/>
          </a:xfrm>
          <a:prstGeom prst="rect">
            <a:avLst/>
          </a:prstGeom>
        </p:spPr>
      </p:pic>
      <p:pic>
        <p:nvPicPr>
          <p:cNvPr id="4" name="Image 1" descr="preencoded.png"/>
          <p:cNvPicPr>
            <a:picLocks noChangeAspect="1"/>
          </p:cNvPicPr>
          <p:nvPr/>
        </p:nvPicPr>
        <p:blipFill>
          <a:blip r:embed="rId4"/>
          <a:stretch>
            <a:fillRect/>
          </a:stretch>
        </p:blipFill>
        <p:spPr>
          <a:xfrm>
            <a:off x="5199726" y="1687810"/>
            <a:ext cx="671000" cy="838696"/>
          </a:xfrm>
          <a:prstGeom prst="rect">
            <a:avLst/>
          </a:prstGeom>
        </p:spPr>
      </p:pic>
      <p:sp>
        <p:nvSpPr>
          <p:cNvPr id="5" name="Text 1"/>
          <p:cNvSpPr/>
          <p:nvPr/>
        </p:nvSpPr>
        <p:spPr>
          <a:xfrm>
            <a:off x="6106960" y="1687810"/>
            <a:ext cx="2142972" cy="295275"/>
          </a:xfrm>
          <a:prstGeom prst="rect">
            <a:avLst/>
          </a:prstGeom>
          <a:noFill/>
          <a:ln/>
        </p:spPr>
        <p:txBody>
          <a:bodyPr wrap="none" lIns="0" tIns="0" rIns="0" bIns="0" rtlCol="0" anchor="t"/>
          <a:lstStyle/>
          <a:p>
            <a:pPr marL="0" indent="0" algn="l">
              <a:lnSpc>
                <a:spcPct val="104000"/>
              </a:lnSpc>
              <a:buNone/>
            </a:pPr>
            <a:r>
              <a:rPr lang="en-US" sz="1850" b="1" dirty="0">
                <a:solidFill>
                  <a:srgbClr val="3B4E4E"/>
                </a:solidFill>
                <a:latin typeface="Syne Bold" pitchFamily="34" charset="0"/>
                <a:ea typeface="Syne Bold" pitchFamily="34" charset="-122"/>
                <a:cs typeface="Syne Bold" pitchFamily="34" charset="-120"/>
              </a:rPr>
              <a:t>Research Skills</a:t>
            </a:r>
            <a:endParaRPr lang="en-US" sz="1850" dirty="0"/>
          </a:p>
        </p:txBody>
      </p:sp>
      <p:sp>
        <p:nvSpPr>
          <p:cNvPr id="6" name="Text 2"/>
          <p:cNvSpPr/>
          <p:nvPr/>
        </p:nvSpPr>
        <p:spPr>
          <a:xfrm>
            <a:off x="6106960" y="2172097"/>
            <a:ext cx="2142972"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Systematic search, relevance filtering, citation tracking.</a:t>
            </a:r>
            <a:endParaRPr lang="en-US" sz="1450" dirty="0"/>
          </a:p>
        </p:txBody>
      </p:sp>
      <p:pic>
        <p:nvPicPr>
          <p:cNvPr id="7" name="Image 2" descr="preencoded.png"/>
          <p:cNvPicPr>
            <a:picLocks noChangeAspect="1"/>
          </p:cNvPicPr>
          <p:nvPr/>
        </p:nvPicPr>
        <p:blipFill>
          <a:blip r:embed="rId5"/>
          <a:stretch>
            <a:fillRect/>
          </a:stretch>
        </p:blipFill>
        <p:spPr>
          <a:xfrm>
            <a:off x="8486166" y="1687810"/>
            <a:ext cx="671000" cy="838696"/>
          </a:xfrm>
          <a:prstGeom prst="rect">
            <a:avLst/>
          </a:prstGeom>
        </p:spPr>
      </p:pic>
      <p:sp>
        <p:nvSpPr>
          <p:cNvPr id="8" name="Text 3"/>
          <p:cNvSpPr/>
          <p:nvPr/>
        </p:nvSpPr>
        <p:spPr>
          <a:xfrm>
            <a:off x="9393399" y="1687810"/>
            <a:ext cx="2143071" cy="590550"/>
          </a:xfrm>
          <a:prstGeom prst="rect">
            <a:avLst/>
          </a:prstGeom>
          <a:noFill/>
          <a:ln/>
        </p:spPr>
        <p:txBody>
          <a:bodyPr wrap="square" lIns="0" tIns="0" rIns="0" bIns="0" rtlCol="0" anchor="t">
            <a:normAutofit/>
          </a:bodyPr>
          <a:lstStyle/>
          <a:p>
            <a:pPr marL="0" indent="0" algn="l">
              <a:lnSpc>
                <a:spcPct val="104000"/>
              </a:lnSpc>
              <a:buNone/>
            </a:pPr>
            <a:r>
              <a:rPr lang="en-US" sz="1850" b="1" dirty="0">
                <a:solidFill>
                  <a:srgbClr val="3B4E4E"/>
                </a:solidFill>
                <a:latin typeface="Syne Bold" pitchFamily="34" charset="0"/>
                <a:ea typeface="Syne Bold" pitchFamily="34" charset="-122"/>
                <a:cs typeface="Syne Bold" pitchFamily="34" charset="-120"/>
              </a:rPr>
              <a:t>Editing &amp; Communication</a:t>
            </a:r>
            <a:endParaRPr lang="en-US" sz="1850" dirty="0"/>
          </a:p>
        </p:txBody>
      </p:sp>
      <p:sp>
        <p:nvSpPr>
          <p:cNvPr id="9" name="Text 4"/>
          <p:cNvSpPr/>
          <p:nvPr/>
        </p:nvSpPr>
        <p:spPr>
          <a:xfrm>
            <a:off x="9393399" y="2467372"/>
            <a:ext cx="2143071"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Clarity, format consistency, proofreading and professional tone.</a:t>
            </a:r>
            <a:endParaRPr lang="en-US" sz="1450" dirty="0"/>
          </a:p>
        </p:txBody>
      </p:sp>
      <p:pic>
        <p:nvPicPr>
          <p:cNvPr id="10" name="Image 3" descr="preencoded.png"/>
          <p:cNvPicPr>
            <a:picLocks noChangeAspect="1"/>
          </p:cNvPicPr>
          <p:nvPr/>
        </p:nvPicPr>
        <p:blipFill>
          <a:blip r:embed="rId6"/>
          <a:stretch>
            <a:fillRect/>
          </a:stretch>
        </p:blipFill>
        <p:spPr>
          <a:xfrm>
            <a:off x="5199726" y="4055070"/>
            <a:ext cx="671000" cy="838696"/>
          </a:xfrm>
          <a:prstGeom prst="rect">
            <a:avLst/>
          </a:prstGeom>
        </p:spPr>
      </p:pic>
      <p:sp>
        <p:nvSpPr>
          <p:cNvPr id="11" name="Text 5"/>
          <p:cNvSpPr/>
          <p:nvPr/>
        </p:nvSpPr>
        <p:spPr>
          <a:xfrm>
            <a:off x="6106960" y="4055070"/>
            <a:ext cx="2142972" cy="590550"/>
          </a:xfrm>
          <a:prstGeom prst="rect">
            <a:avLst/>
          </a:prstGeom>
          <a:noFill/>
          <a:ln/>
        </p:spPr>
        <p:txBody>
          <a:bodyPr wrap="square" lIns="0" tIns="0" rIns="0" bIns="0" rtlCol="0" anchor="t">
            <a:normAutofit/>
          </a:bodyPr>
          <a:lstStyle/>
          <a:p>
            <a:pPr marL="0" indent="0" algn="l">
              <a:lnSpc>
                <a:spcPct val="104000"/>
              </a:lnSpc>
              <a:buNone/>
            </a:pPr>
            <a:r>
              <a:rPr lang="en-US" sz="1850" b="1" dirty="0">
                <a:solidFill>
                  <a:srgbClr val="3B4E4E"/>
                </a:solidFill>
                <a:latin typeface="Syne Bold" pitchFamily="34" charset="0"/>
                <a:ea typeface="Syne Bold" pitchFamily="34" charset="-122"/>
                <a:cs typeface="Syne Bold" pitchFamily="34" charset="-120"/>
              </a:rPr>
              <a:t>Professional Practice</a:t>
            </a:r>
            <a:endParaRPr lang="en-US" sz="1850" dirty="0"/>
          </a:p>
        </p:txBody>
      </p:sp>
      <p:sp>
        <p:nvSpPr>
          <p:cNvPr id="12" name="Text 6"/>
          <p:cNvSpPr/>
          <p:nvPr/>
        </p:nvSpPr>
        <p:spPr>
          <a:xfrm>
            <a:off x="6106960" y="4834632"/>
            <a:ext cx="2142972"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Time management, receiving feedback, responsible documentation.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638102"/>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233939"/>
                </a:solidFill>
                <a:latin typeface="Syne Bold" pitchFamily="34" charset="0"/>
                <a:ea typeface="Syne Bold" pitchFamily="34" charset="-122"/>
                <a:cs typeface="Syne Bold" pitchFamily="34" charset="-120"/>
              </a:rPr>
              <a:t>Expected Outcomes, Limitations &amp; Ethics</a:t>
            </a:r>
            <a:endParaRPr lang="en-US" sz="3700" dirty="0"/>
          </a:p>
        </p:txBody>
      </p:sp>
      <p:sp>
        <p:nvSpPr>
          <p:cNvPr id="4" name="Text 1"/>
          <p:cNvSpPr/>
          <p:nvPr/>
        </p:nvSpPr>
        <p:spPr>
          <a:xfrm>
            <a:off x="661475" y="3102868"/>
            <a:ext cx="6296860" cy="2116931"/>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B4E4E"/>
                </a:solidFill>
                <a:latin typeface="Overpass Light" pitchFamily="34" charset="0"/>
                <a:ea typeface="Overpass Light" pitchFamily="34" charset="-122"/>
                <a:cs typeface="Overpass Light" pitchFamily="34" charset="-120"/>
              </a:rPr>
              <a:t>Expected outcomes included structured research folders, concise professionally formatted reports, improved evidence-based summarization skills, and strengthened documentation habits. Limitations: short internship duration (04 Jun–06 Jul 2026) and scope confined to research/reporting — not an organisational impact evaluation. Ethical practice required consent-aware, non-identifying presentation of any community information and clear source attribution.</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689471"/>
            <a:ext cx="10868745" cy="561181"/>
          </a:xfrm>
          <a:prstGeom prst="rect">
            <a:avLst/>
          </a:prstGeom>
          <a:noFill/>
          <a:ln/>
        </p:spPr>
        <p:txBody>
          <a:bodyPr wrap="none" lIns="0" tIns="0" rIns="0" bIns="0" rtlCol="0" anchor="t"/>
          <a:lstStyle/>
          <a:p>
            <a:pPr marL="0" indent="0" algn="l">
              <a:lnSpc>
                <a:spcPct val="104000"/>
              </a:lnSpc>
              <a:buNone/>
            </a:pPr>
            <a:r>
              <a:rPr lang="en-US" sz="3500" b="1" dirty="0">
                <a:solidFill>
                  <a:srgbClr val="233939"/>
                </a:solidFill>
                <a:latin typeface="Syne Bold" pitchFamily="34" charset="0"/>
                <a:ea typeface="Syne Bold" pitchFamily="34" charset="-122"/>
                <a:cs typeface="Syne Bold" pitchFamily="34" charset="-120"/>
              </a:rPr>
              <a:t>Conclusion, Bibliography &amp; Next Steps</a:t>
            </a:r>
            <a:endParaRPr lang="en-US" sz="3500" dirty="0"/>
          </a:p>
        </p:txBody>
      </p:sp>
      <p:sp>
        <p:nvSpPr>
          <p:cNvPr id="3" name="Text 1"/>
          <p:cNvSpPr/>
          <p:nvPr/>
        </p:nvSpPr>
        <p:spPr>
          <a:xfrm>
            <a:off x="661475" y="1677095"/>
            <a:ext cx="5215303" cy="280491"/>
          </a:xfrm>
          <a:prstGeom prst="rect">
            <a:avLst/>
          </a:prstGeom>
          <a:noFill/>
          <a:ln/>
        </p:spPr>
        <p:txBody>
          <a:bodyPr wrap="none" lIns="0" tIns="0" rIns="0" bIns="0" rtlCol="0" anchor="t"/>
          <a:lstStyle/>
          <a:p>
            <a:pPr marL="0" indent="0" algn="l">
              <a:lnSpc>
                <a:spcPct val="104000"/>
              </a:lnSpc>
              <a:buNone/>
            </a:pPr>
            <a:r>
              <a:rPr lang="en-US" sz="1750" b="1" dirty="0">
                <a:solidFill>
                  <a:srgbClr val="233939"/>
                </a:solidFill>
                <a:latin typeface="Syne Bold" pitchFamily="34" charset="0"/>
                <a:ea typeface="Syne Bold" pitchFamily="34" charset="-122"/>
                <a:cs typeface="Syne Bold" pitchFamily="34" charset="-120"/>
              </a:rPr>
              <a:t>Conclusion</a:t>
            </a:r>
            <a:endParaRPr lang="en-US" sz="1750" dirty="0"/>
          </a:p>
        </p:txBody>
      </p:sp>
      <p:sp>
        <p:nvSpPr>
          <p:cNvPr id="4" name="Text 2"/>
          <p:cNvSpPr/>
          <p:nvPr/>
        </p:nvSpPr>
        <p:spPr>
          <a:xfrm>
            <a:off x="661475" y="2128143"/>
            <a:ext cx="5215303"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3B4E4E"/>
                </a:solidFill>
                <a:latin typeface="Overpass Light" pitchFamily="34" charset="0"/>
                <a:ea typeface="Overpass Light" pitchFamily="34" charset="-122"/>
                <a:cs typeface="Overpass Light" pitchFamily="34" charset="-120"/>
              </a:rPr>
              <a:t>The internship bridged academic methods and workplace reporting practice. It demonstrated that disciplined research workflows and careful reporting materially improve an organisation’s ability to capture and communicate learning.</a:t>
            </a:r>
            <a:endParaRPr lang="en-US" sz="1400" dirty="0"/>
          </a:p>
        </p:txBody>
      </p:sp>
      <p:sp>
        <p:nvSpPr>
          <p:cNvPr id="5" name="Text 3"/>
          <p:cNvSpPr/>
          <p:nvPr/>
        </p:nvSpPr>
        <p:spPr>
          <a:xfrm>
            <a:off x="661475" y="3419078"/>
            <a:ext cx="5215303" cy="280491"/>
          </a:xfrm>
          <a:prstGeom prst="rect">
            <a:avLst/>
          </a:prstGeom>
          <a:noFill/>
          <a:ln/>
        </p:spPr>
        <p:txBody>
          <a:bodyPr wrap="none" lIns="0" tIns="0" rIns="0" bIns="0" rtlCol="0" anchor="t"/>
          <a:lstStyle/>
          <a:p>
            <a:pPr marL="0" indent="0" algn="l">
              <a:lnSpc>
                <a:spcPct val="104000"/>
              </a:lnSpc>
              <a:buNone/>
            </a:pPr>
            <a:r>
              <a:rPr lang="en-US" sz="1750" b="1" dirty="0">
                <a:solidFill>
                  <a:srgbClr val="233939"/>
                </a:solidFill>
                <a:latin typeface="Syne Bold" pitchFamily="34" charset="0"/>
                <a:ea typeface="Syne Bold" pitchFamily="34" charset="-122"/>
                <a:cs typeface="Syne Bold" pitchFamily="34" charset="-120"/>
              </a:rPr>
              <a:t>Next Steps</a:t>
            </a:r>
            <a:endParaRPr lang="en-US" sz="1750" dirty="0"/>
          </a:p>
        </p:txBody>
      </p:sp>
      <p:sp>
        <p:nvSpPr>
          <p:cNvPr id="6" name="Text 4"/>
          <p:cNvSpPr/>
          <p:nvPr/>
        </p:nvSpPr>
        <p:spPr>
          <a:xfrm>
            <a:off x="661475" y="3870127"/>
            <a:ext cx="5215303" cy="1799828"/>
          </a:xfrm>
          <a:prstGeom prst="rect">
            <a:avLst/>
          </a:prstGeom>
          <a:noFill/>
          <a:ln/>
        </p:spPr>
        <p:txBody>
          <a:bodyPr wrap="square" lIns="0" tIns="0" rIns="0" bIns="0" rtlCol="0" anchor="t">
            <a:normAutofit/>
          </a:bodyPr>
          <a:lstStyle/>
          <a:p>
            <a:pPr marL="284480" indent="-284480" algn="l">
              <a:lnSpc>
                <a:spcPct val="130000"/>
              </a:lnSpc>
              <a:buSzPct val="100000"/>
              <a:buFont typeface="+mj-lt"/>
              <a:buAutoNum type="arabicPeriod"/>
            </a:pPr>
            <a:r>
              <a:rPr lang="en-US" sz="1400" dirty="0">
                <a:solidFill>
                  <a:srgbClr val="3B4E4E"/>
                </a:solidFill>
                <a:latin typeface="Overpass Light" pitchFamily="34" charset="0"/>
                <a:ea typeface="Overpass Light" pitchFamily="34" charset="-122"/>
                <a:cs typeface="Overpass Light" pitchFamily="34" charset="-120"/>
              </a:rPr>
              <a:t>Integrate feedback from supervisors and submit finalised report</a:t>
            </a:r>
            <a:endParaRPr lang="en-US" sz="1400" dirty="0"/>
          </a:p>
          <a:p>
            <a:pPr marL="284480" indent="-284480" algn="l">
              <a:lnSpc>
                <a:spcPct val="130000"/>
              </a:lnSpc>
              <a:buSzPct val="100000"/>
              <a:buFont typeface="+mj-lt"/>
              <a:buAutoNum type="arabicPeriod" startAt="2"/>
            </a:pPr>
            <a:r>
              <a:rPr lang="en-US" sz="1400" dirty="0">
                <a:solidFill>
                  <a:srgbClr val="3B4E4E"/>
                </a:solidFill>
                <a:latin typeface="Overpass Light" pitchFamily="34" charset="0"/>
                <a:ea typeface="Overpass Light" pitchFamily="34" charset="-122"/>
                <a:cs typeface="Overpass Light" pitchFamily="34" charset="-120"/>
              </a:rPr>
              <a:t>Attach certificate and any required communication proof as annexures</a:t>
            </a:r>
            <a:endParaRPr lang="en-US" sz="1400" dirty="0"/>
          </a:p>
          <a:p>
            <a:pPr marL="284480" indent="-284480" algn="l">
              <a:lnSpc>
                <a:spcPct val="130000"/>
              </a:lnSpc>
              <a:buSzPct val="100000"/>
              <a:buFont typeface="+mj-lt"/>
              <a:buAutoNum type="arabicPeriod" startAt="3"/>
            </a:pPr>
            <a:r>
              <a:rPr lang="en-US" sz="1400" dirty="0">
                <a:solidFill>
                  <a:srgbClr val="3B4E4E"/>
                </a:solidFill>
                <a:latin typeface="Overpass Light" pitchFamily="34" charset="0"/>
                <a:ea typeface="Overpass Light" pitchFamily="34" charset="-122"/>
                <a:cs typeface="Overpass Light" pitchFamily="34" charset="-120"/>
              </a:rPr>
              <a:t>Preserve organised research materials for future organisational use</a:t>
            </a:r>
            <a:endParaRPr lang="en-US" sz="1400" dirty="0"/>
          </a:p>
        </p:txBody>
      </p:sp>
      <p:sp>
        <p:nvSpPr>
          <p:cNvPr id="7" name="Text 5"/>
          <p:cNvSpPr/>
          <p:nvPr/>
        </p:nvSpPr>
        <p:spPr>
          <a:xfrm>
            <a:off x="6321267" y="1677095"/>
            <a:ext cx="5215303" cy="280491"/>
          </a:xfrm>
          <a:prstGeom prst="rect">
            <a:avLst/>
          </a:prstGeom>
          <a:noFill/>
          <a:ln/>
        </p:spPr>
        <p:txBody>
          <a:bodyPr wrap="none" lIns="0" tIns="0" rIns="0" bIns="0" rtlCol="0" anchor="t"/>
          <a:lstStyle/>
          <a:p>
            <a:pPr marL="0" indent="0" algn="l">
              <a:lnSpc>
                <a:spcPct val="104000"/>
              </a:lnSpc>
              <a:buNone/>
            </a:pPr>
            <a:r>
              <a:rPr lang="en-US" sz="1750" b="1" dirty="0">
                <a:solidFill>
                  <a:srgbClr val="233939"/>
                </a:solidFill>
                <a:latin typeface="Syne Bold" pitchFamily="34" charset="0"/>
                <a:ea typeface="Syne Bold" pitchFamily="34" charset="-122"/>
                <a:cs typeface="Syne Bold" pitchFamily="34" charset="-120"/>
              </a:rPr>
              <a:t>Selected References</a:t>
            </a:r>
            <a:endParaRPr lang="en-US" sz="1750" dirty="0"/>
          </a:p>
        </p:txBody>
      </p:sp>
      <p:sp>
        <p:nvSpPr>
          <p:cNvPr id="8" name="Text 6"/>
          <p:cNvSpPr/>
          <p:nvPr/>
        </p:nvSpPr>
        <p:spPr>
          <a:xfrm>
            <a:off x="6321267" y="2128143"/>
            <a:ext cx="5215303" cy="2419648"/>
          </a:xfrm>
          <a:prstGeom prst="rect">
            <a:avLst/>
          </a:prstGeom>
          <a:noFill/>
          <a:ln/>
        </p:spPr>
        <p:txBody>
          <a:bodyPr wrap="square" lIns="0" tIns="71827" rIns="0" bIns="0" rtlCol="0" anchor="t">
            <a:normAutofit/>
          </a:bodyPr>
          <a:lstStyle/>
          <a:p>
            <a:pPr marL="284480" indent="-284480" algn="l">
              <a:lnSpc>
                <a:spcPct val="13000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Vishalakshi Foundation — Internship Completion Certificate (04 Jun </a:t>
            </a:r>
            <a:r>
              <a:rPr lang="en-US" sz="1400">
                <a:solidFill>
                  <a:srgbClr val="3B4E4E"/>
                </a:solidFill>
                <a:latin typeface="Overpass Light" pitchFamily="34" charset="0"/>
                <a:ea typeface="Overpass Light" pitchFamily="34" charset="-122"/>
                <a:cs typeface="Overpass Light" pitchFamily="34" charset="-120"/>
              </a:rPr>
              <a:t>– 06 </a:t>
            </a:r>
            <a:r>
              <a:rPr lang="en-US" sz="1400" dirty="0">
                <a:solidFill>
                  <a:srgbClr val="3B4E4E"/>
                </a:solidFill>
                <a:latin typeface="Overpass Light" pitchFamily="34" charset="0"/>
                <a:ea typeface="Overpass Light" pitchFamily="34" charset="-122"/>
                <a:cs typeface="Overpass Light" pitchFamily="34" charset="-120"/>
              </a:rPr>
              <a:t>Jul 2026)</a:t>
            </a:r>
            <a:endParaRPr lang="en-US" sz="1400" dirty="0"/>
          </a:p>
          <a:p>
            <a:pPr marL="284480" indent="-284480" algn="l">
              <a:lnSpc>
                <a:spcPct val="13000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Organisation’s internal instructions and materials provided during the internship</a:t>
            </a:r>
            <a:endParaRPr lang="en-US" sz="1400" dirty="0"/>
          </a:p>
          <a:p>
            <a:pPr marL="284480" indent="-284480" algn="l">
              <a:lnSpc>
                <a:spcPct val="13000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Microsoft Word and Google Docs documentation (formatting &amp; templates)</a:t>
            </a:r>
            <a:endParaRPr lang="en-US" sz="1400" dirty="0"/>
          </a:p>
          <a:p>
            <a:pPr marL="284480" indent="-284480" algn="l">
              <a:lnSpc>
                <a:spcPct val="13000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Assorted secondary sources consulted (detailed references retained with research notes)</a:t>
            </a:r>
            <a:endParaRPr lang="en-US" sz="1400" dirty="0"/>
          </a:p>
        </p:txBody>
      </p:sp>
      <p:sp>
        <p:nvSpPr>
          <p:cNvPr id="9" name="Shape 7"/>
          <p:cNvSpPr/>
          <p:nvPr/>
        </p:nvSpPr>
        <p:spPr>
          <a:xfrm>
            <a:off x="6321267" y="4739680"/>
            <a:ext cx="5215303" cy="1236960"/>
          </a:xfrm>
          <a:prstGeom prst="roundRect">
            <a:avLst>
              <a:gd name="adj" fmla="val 6097"/>
            </a:avLst>
          </a:prstGeom>
          <a:solidFill>
            <a:srgbClr val="DDEEE6"/>
          </a:solidFill>
          <a:ln/>
        </p:spPr>
      </p:sp>
      <p:pic>
        <p:nvPicPr>
          <p:cNvPr id="10" name="Image 0" descr="preencoded.png"/>
          <p:cNvPicPr>
            <a:picLocks noChangeAspect="1"/>
          </p:cNvPicPr>
          <p:nvPr/>
        </p:nvPicPr>
        <p:blipFill>
          <a:blip r:embed="rId3"/>
          <a:stretch>
            <a:fillRect/>
          </a:stretch>
        </p:blipFill>
        <p:spPr>
          <a:xfrm>
            <a:off x="6500749" y="4982170"/>
            <a:ext cx="224427" cy="179487"/>
          </a:xfrm>
          <a:prstGeom prst="rect">
            <a:avLst/>
          </a:prstGeom>
        </p:spPr>
      </p:pic>
      <p:sp>
        <p:nvSpPr>
          <p:cNvPr id="11" name="Text 8"/>
          <p:cNvSpPr/>
          <p:nvPr/>
        </p:nvSpPr>
        <p:spPr>
          <a:xfrm>
            <a:off x="6904659" y="4938018"/>
            <a:ext cx="4452429" cy="840284"/>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000000"/>
                </a:solidFill>
                <a:latin typeface="Overpass Light" pitchFamily="34" charset="0"/>
                <a:ea typeface="Overpass Light" pitchFamily="34" charset="-122"/>
                <a:cs typeface="Overpass Light" pitchFamily="34" charset="-120"/>
              </a:rPr>
              <a:t>Certificate and communication-mail proof are appended to the formal submission where required by university guidelines.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690</Words>
  <Application>Microsoft Office PowerPoint</Application>
  <PresentationFormat>Widescreen</PresentationFormat>
  <Paragraphs>70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Syne Bold</vt:lpstr>
      <vt:lpstr>Arial</vt:lpstr>
      <vt:lpstr>Overpass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Harsh Kumar</cp:lastModifiedBy>
  <cp:revision>3</cp:revision>
  <dcterms:created xsi:type="dcterms:W3CDTF">2026-08-30T09:28:25Z</dcterms:created>
  <dcterms:modified xsi:type="dcterms:W3CDTF">2026-09-10T02:04:24Z</dcterms:modified>
</cp:coreProperties>
</file>